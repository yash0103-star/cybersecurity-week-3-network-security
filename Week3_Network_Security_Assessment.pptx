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46E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INTERN HUB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Security Assessment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Nmap and Wireshark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 ·  ADVANCED CYBERSECURITY  ·  PRACTICAL TASK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3657600" cy="0"/>
          </a:xfrm>
          <a:prstGeom prst="line">
            <a:avLst/>
          </a:prstGeom>
          <a:noFill/>
          <a:ln w="19050">
            <a:solidFill>
              <a:srgbClr val="C46E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480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by  </a:t>
            </a:r>
            <a:pPr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 Panchal</a:t>
            </a:r>
            <a:pPr indent="0" marL="0">
              <a:buNone/>
            </a:pPr>
            <a:r>
              <a:rPr lang="en-US" sz="14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Cyber Security Intern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VMware Laboratory Environment  ·  Kali Linux + Ubuntu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01  ·  OBJECTIVES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45352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INTERN HUB  ·  WEEK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02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Objectives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EBE5D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544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15361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Discovery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8470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hosts in the authorized laboratory network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EBE5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517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26334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&amp; Service Scan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9443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open ports, running services and versions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EBE5D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490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37307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&amp; UDP Detection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041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basic OS detection and limited UDP scanning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66344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EBE5D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8463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48280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NSE Scripts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5138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Nmap NSE vulnerability scripts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137160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EBE5D8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15544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23760" y="15361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Capture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23760" y="18470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and analyze TCP, UDP, DNS, ICMP, ARP traffic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246888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EBE5D8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26517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223760" y="26334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23760" y="29443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 Nmap results with Wireshark packets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356616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EBE5D8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37490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223760" y="37307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23760" y="4041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security findings and risk levels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09360" y="466344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EBE5D8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48463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223760" y="48280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223760" y="5138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security hardening and compare before/after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02  ·  LAB ENVIRONMENT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45352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INTERN HUB  ·  WEEK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03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VMware Laboratory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2834640" cy="457200"/>
          </a:xfrm>
          <a:prstGeom prst="rect">
            <a:avLst/>
          </a:prstGeom>
          <a:solidFill>
            <a:srgbClr val="0A090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17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2834640" cy="457200"/>
          </a:xfrm>
          <a:prstGeom prst="rect">
            <a:avLst/>
          </a:prstGeom>
          <a:solidFill>
            <a:srgbClr val="0A0907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417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System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2834640" cy="457200"/>
          </a:xfrm>
          <a:prstGeom prst="rect">
            <a:avLst/>
          </a:prstGeom>
          <a:solidFill>
            <a:srgbClr val="0A0907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417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Address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98280" y="1417320"/>
            <a:ext cx="2834640" cy="457200"/>
          </a:xfrm>
          <a:prstGeom prst="rect">
            <a:avLst/>
          </a:prstGeom>
          <a:solidFill>
            <a:srgbClr val="0A0907"/>
          </a:solidFill>
          <a:ln/>
        </p:spPr>
      </p:sp>
      <p:sp>
        <p:nvSpPr>
          <p:cNvPr id="16" name="Text 14"/>
          <p:cNvSpPr/>
          <p:nvPr/>
        </p:nvSpPr>
        <p:spPr>
          <a:xfrm>
            <a:off x="9098280" y="1417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1920240"/>
            <a:ext cx="2834640" cy="50292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920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 Linux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1920240"/>
            <a:ext cx="2834640" cy="50292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1920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 Linux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1920240"/>
            <a:ext cx="2834640" cy="50292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920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192.168.174.133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98280" y="1920240"/>
            <a:ext cx="2834640" cy="50292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24" name="Text 22"/>
          <p:cNvSpPr/>
          <p:nvPr/>
        </p:nvSpPr>
        <p:spPr>
          <a:xfrm>
            <a:off x="9098280" y="1920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Scanner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2423160"/>
            <a:ext cx="2834640" cy="502920"/>
          </a:xfrm>
          <a:prstGeom prst="rect">
            <a:avLst/>
          </a:prstGeom>
          <a:solidFill>
            <a:srgbClr val="F4EFE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423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37560" y="2423160"/>
            <a:ext cx="2834640" cy="502920"/>
          </a:xfrm>
          <a:prstGeom prst="rect">
            <a:avLst/>
          </a:prstGeom>
          <a:solidFill>
            <a:srgbClr val="F4EFE6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2423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Linux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17920" y="2423160"/>
            <a:ext cx="2834640" cy="502920"/>
          </a:xfrm>
          <a:prstGeom prst="rect">
            <a:avLst/>
          </a:prstGeom>
          <a:solidFill>
            <a:srgbClr val="F4EFE6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2423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192.168.174.132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098280" y="2423160"/>
            <a:ext cx="2834640" cy="502920"/>
          </a:xfrm>
          <a:prstGeom prst="rect">
            <a:avLst/>
          </a:prstGeom>
          <a:solidFill>
            <a:srgbClr val="F4EFE6"/>
          </a:solidFill>
          <a:ln/>
        </p:spPr>
      </p:sp>
      <p:sp>
        <p:nvSpPr>
          <p:cNvPr id="32" name="Text 30"/>
          <p:cNvSpPr/>
          <p:nvPr/>
        </p:nvSpPr>
        <p:spPr>
          <a:xfrm>
            <a:off x="9098280" y="2423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2926080"/>
            <a:ext cx="2834640" cy="50292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2926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VMware Gateway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337560" y="2926080"/>
            <a:ext cx="2834640" cy="50292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36" name="Text 34"/>
          <p:cNvSpPr/>
          <p:nvPr/>
        </p:nvSpPr>
        <p:spPr>
          <a:xfrm>
            <a:off x="3337560" y="2926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VMware Network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17920" y="2926080"/>
            <a:ext cx="2834640" cy="50292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2926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192.168.174.2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098280" y="2926080"/>
            <a:ext cx="2834640" cy="50292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40" name="Text 38"/>
          <p:cNvSpPr/>
          <p:nvPr/>
        </p:nvSpPr>
        <p:spPr>
          <a:xfrm>
            <a:off x="9098280" y="2926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/ DNS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7200" y="379476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EBE5D8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4023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9436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192.168.174.0/24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383280" y="379476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EBE5D8"/>
          </a:solidFill>
          <a:ln/>
        </p:spPr>
      </p:sp>
      <p:sp>
        <p:nvSpPr>
          <p:cNvPr id="45" name="Text 43"/>
          <p:cNvSpPr/>
          <p:nvPr/>
        </p:nvSpPr>
        <p:spPr>
          <a:xfrm>
            <a:off x="3520440" y="4023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52044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192.168.174.2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09360" y="379476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EBE5D8"/>
          </a:solidFill>
          <a:ln/>
        </p:spPr>
      </p:sp>
      <p:sp>
        <p:nvSpPr>
          <p:cNvPr id="48" name="Text 46"/>
          <p:cNvSpPr/>
          <p:nvPr/>
        </p:nvSpPr>
        <p:spPr>
          <a:xfrm>
            <a:off x="6446520" y="4023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44652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192.168.174.133/24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235440" y="379476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EBE5D8"/>
          </a:solidFill>
          <a:ln/>
        </p:spPr>
      </p:sp>
      <p:sp>
        <p:nvSpPr>
          <p:cNvPr id="51" name="Text 49"/>
          <p:cNvSpPr/>
          <p:nvPr/>
        </p:nvSpPr>
        <p:spPr>
          <a:xfrm>
            <a:off x="9372600" y="4023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37260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192.168.174.132/24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03  ·  NETWORK DISCOVERY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45352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INTERN HUB  ·  WEEK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04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NMAP — HOST DISCOVERY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Discovery with Nmap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6E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Command:  nmap -sn 192.168.174.0/24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5623560" cy="1645920"/>
          </a:xfrm>
          <a:prstGeom prst="roundRect">
            <a:avLst>
              <a:gd name="adj" fmla="val 4444"/>
            </a:avLst>
          </a:prstGeom>
          <a:solidFill>
            <a:srgbClr val="EBE5D8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37360"/>
            <a:ext cx="109728" cy="1645920"/>
          </a:xfrm>
          <a:prstGeom prst="rect">
            <a:avLst/>
          </a:prstGeom>
          <a:solidFill>
            <a:srgbClr val="2E6B3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192.168.174.1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is up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00:50:56:C0:00:08  ·  Gateway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737360"/>
            <a:ext cx="5623560" cy="1645920"/>
          </a:xfrm>
          <a:prstGeom prst="roundRect">
            <a:avLst>
              <a:gd name="adj" fmla="val 4444"/>
            </a:avLst>
          </a:prstGeom>
          <a:solidFill>
            <a:srgbClr val="EBE5D8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1737360"/>
            <a:ext cx="109728" cy="1645920"/>
          </a:xfrm>
          <a:prstGeom prst="rect">
            <a:avLst/>
          </a:prstGeom>
          <a:solidFill>
            <a:srgbClr val="2E6B3C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192.168.174.2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is up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00:50:56:E9:7F:58  ·  DNS / Gateway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5623560" cy="1645920"/>
          </a:xfrm>
          <a:prstGeom prst="roundRect">
            <a:avLst>
              <a:gd name="adj" fmla="val 4444"/>
            </a:avLst>
          </a:prstGeom>
          <a:solidFill>
            <a:srgbClr val="EBE5D8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566160"/>
            <a:ext cx="109728" cy="1645920"/>
          </a:xfrm>
          <a:prstGeom prst="rect">
            <a:avLst/>
          </a:prstGeom>
          <a:solidFill>
            <a:srgbClr val="2E6B3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192.168.174.132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4206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is up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617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00:0C:29:01:C2:DD  ·  Ubuntu Target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3566160"/>
            <a:ext cx="5623560" cy="1645920"/>
          </a:xfrm>
          <a:prstGeom prst="roundRect">
            <a:avLst>
              <a:gd name="adj" fmla="val 4444"/>
            </a:avLst>
          </a:prstGeom>
          <a:solidFill>
            <a:srgbClr val="EBE5D8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3566160"/>
            <a:ext cx="109728" cy="1645920"/>
          </a:xfrm>
          <a:prstGeom prst="rect">
            <a:avLst/>
          </a:prstGeom>
          <a:solidFill>
            <a:srgbClr val="2E6B3C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192.168.174.133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29400" y="4206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is up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29400" y="4617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00:0C:29:B1:C2:DD  ·  Kali Scanner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04  ·  ADVANCED NMAP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45352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INTERN HUB  ·  WEEK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05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&amp; SERVICE SCAN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Scan &amp; Service Detection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EBE5D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PORT SCAN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192.168.174.132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1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22/tcp  open  ssh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200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 filtered TCP ports (no-response)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is up (0.00021s latency)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MAC: 00:0C:29:01:C2:DD (VMware)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754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SSH exposed — minimal attack surface on TCP.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EBE5D8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&amp; VERSION DETECTION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-sV 192.168.174.132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26517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1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22/tcp  open  ssh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411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OpenSSH 8.2p1 Ubuntu 4ubuntu0.6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3566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Info: OS: Linux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CPE: cpe:/o:linux:linux_kernel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4754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2ubuntu3.6 confirmed via banner.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05  ·  OS DETECTION &amp; UDP SCAN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45352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INTERN HUB  ·  WEEK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06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SCANS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Detection · TCP SYN · UDP Top-20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3703320" cy="4572000"/>
          </a:xfrm>
          <a:prstGeom prst="roundRect">
            <a:avLst>
              <a:gd name="adj" fmla="val 1975"/>
            </a:avLst>
          </a:prstGeom>
          <a:solidFill>
            <a:srgbClr val="EBE5D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63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DETECTION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nmap -O 192.168.174.132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Linux kernel detected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Ubuntu-based system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Fingerprint matches known signatures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Confirms service version results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1280160"/>
            <a:ext cx="3703320" cy="4572000"/>
          </a:xfrm>
          <a:prstGeom prst="roundRect">
            <a:avLst>
              <a:gd name="adj" fmla="val 1975"/>
            </a:avLst>
          </a:prstGeom>
          <a:solidFill>
            <a:srgbClr val="EBE5D8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1463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SYN SCAN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19202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nmap -sS 192.168.174.132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2651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Stealth half-open scan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26280" y="32004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22/tcp open  ssh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26280" y="3749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999 filtered ports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26280" y="42976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Low noise, effective discovery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0" y="1280160"/>
            <a:ext cx="3703320" cy="4572000"/>
          </a:xfrm>
          <a:prstGeom prst="roundRect">
            <a:avLst>
              <a:gd name="adj" fmla="val 1975"/>
            </a:avLst>
          </a:prstGeom>
          <a:solidFill>
            <a:srgbClr val="EBE5D8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1463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 TOP-20 SCAN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0" y="19202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nmap -sU --top-ports 20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2651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53/udp  open|filtered  domain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0" y="32004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67/udp  open|filtered  dhcps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0" y="3749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123/udp open|filtered  ntp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12480" y="42976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Multiple UDP services present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06  ·  NSE &amp; TRAFFIC CAPTURE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45352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INTERN HUB  ·  WEEK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07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 SCRIPTS + WIRESHARK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NSE Vulnerability Scripts &amp; Wireshark Capture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EBE5D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NSE VULNERABILITY ASSESSMENT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nmap --script vuln 192.168.174.132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7432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critical vulnerabilities reported by the vuln script suite on the open SSH service.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7490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completed in ~16 seconds.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port 22/tcp reported open.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address confirmed VMware.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EBE5D8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WIRESHARK TRAFFIC CAPTURE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1874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-c 5 192.168.174.132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Investigated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37960" y="274320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4EFE6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1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333756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4EFE6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1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37960" y="393192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4EFE6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1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37960" y="452628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4EFE6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1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icmp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06840" y="274320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4EFE6"/>
          </a:solidFill>
          <a:ln/>
        </p:spPr>
      </p:sp>
      <p:sp>
        <p:nvSpPr>
          <p:cNvPr id="28" name="Text 26"/>
          <p:cNvSpPr/>
          <p:nvPr/>
        </p:nvSpPr>
        <p:spPr>
          <a:xfrm>
            <a:off x="900684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1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06840" y="333756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4EFE6"/>
          </a:solidFill>
          <a:ln/>
        </p:spPr>
      </p:sp>
      <p:sp>
        <p:nvSpPr>
          <p:cNvPr id="30" name="Text 28"/>
          <p:cNvSpPr/>
          <p:nvPr/>
        </p:nvSpPr>
        <p:spPr>
          <a:xfrm>
            <a:off x="900684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1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tcp.flags.syn == 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06840" y="393192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4EFE6"/>
          </a:solidFill>
          <a:ln/>
        </p:spPr>
      </p:sp>
      <p:sp>
        <p:nvSpPr>
          <p:cNvPr id="32" name="Text 30"/>
          <p:cNvSpPr/>
          <p:nvPr/>
        </p:nvSpPr>
        <p:spPr>
          <a:xfrm>
            <a:off x="900684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1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tcp.flags.reset == 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06840" y="452628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4EFE6"/>
          </a:solidFill>
          <a:ln/>
        </p:spPr>
      </p:sp>
      <p:sp>
        <p:nvSpPr>
          <p:cNvPr id="34" name="Text 32"/>
          <p:cNvSpPr/>
          <p:nvPr/>
        </p:nvSpPr>
        <p:spPr>
          <a:xfrm>
            <a:off x="900684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1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dns.flags.response == 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07  ·  PACKET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45352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INTERN HUB  ·  WEEK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08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· ICMP · ARP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Protocol-Level Observations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EBE5D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280160"/>
            <a:ext cx="109728" cy="13716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260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Filter: dns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1920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and response packets observed. Source generated DNS requests and received corresponding responses for legitimate domains.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EBE5D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834640"/>
            <a:ext cx="109728" cy="1371600"/>
          </a:xfrm>
          <a:prstGeom prst="rect">
            <a:avLst/>
          </a:prstGeom>
          <a:solidFill>
            <a:srgbClr val="2E6B3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92608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Filter: icmp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4747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ICMP packets generated during the ping test between Kali and the authorized Ubuntu target. 5 packets transmitted, 0% loss.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EBE5D8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389120"/>
            <a:ext cx="109728" cy="1371600"/>
          </a:xfrm>
          <a:prstGeom prst="rect">
            <a:avLst/>
          </a:prstGeom>
          <a:solidFill>
            <a:srgbClr val="C46E0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572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92608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Filter: arp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5029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 traffic observed as systems resolved local IP addresses to MAC addresses. Normal VMware MAC resolution behavior.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08  ·  NMAP + WIRESHARK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45352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INTERN HUB  ·  WEEK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09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Correlating Scan Results with Packet Evidence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3749040" cy="502920"/>
          </a:xfrm>
          <a:prstGeom prst="rect">
            <a:avLst/>
          </a:prstGeom>
          <a:solidFill>
            <a:srgbClr val="0A090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71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Nmap Result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3749040" cy="502920"/>
          </a:xfrm>
          <a:prstGeom prst="rect">
            <a:avLst/>
          </a:prstGeom>
          <a:solidFill>
            <a:srgbClr val="0A0907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371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Wireshark Evidence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749040" cy="502920"/>
          </a:xfrm>
          <a:prstGeom prst="rect">
            <a:avLst/>
          </a:prstGeom>
          <a:solidFill>
            <a:srgbClr val="0A0907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371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1920240"/>
            <a:ext cx="3749040" cy="64008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920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97680" y="1920240"/>
            <a:ext cx="3749040" cy="64008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1920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 → SYN/ACK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38160" y="1920240"/>
            <a:ext cx="3749040" cy="64008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1920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is reachable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560320"/>
            <a:ext cx="3749040" cy="640080"/>
          </a:xfrm>
          <a:prstGeom prst="rect">
            <a:avLst/>
          </a:prstGeom>
          <a:solidFill>
            <a:srgbClr val="F4EFE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5603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97680" y="2560320"/>
            <a:ext cx="3749040" cy="640080"/>
          </a:xfrm>
          <a:prstGeom prst="rect">
            <a:avLst/>
          </a:prstGeom>
          <a:solidFill>
            <a:srgbClr val="F4EFE6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0" y="25603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 → RST/ACK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38160" y="2560320"/>
            <a:ext cx="3749040" cy="640080"/>
          </a:xfrm>
          <a:prstGeom prst="rect">
            <a:avLst/>
          </a:prstGeom>
          <a:solidFill>
            <a:srgbClr val="F4EFE6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25603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is not accepting connections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3749040" cy="64008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2004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297680" y="3200400"/>
            <a:ext cx="3749040" cy="64008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30" name="Text 28"/>
          <p:cNvSpPr/>
          <p:nvPr/>
        </p:nvSpPr>
        <p:spPr>
          <a:xfrm>
            <a:off x="4297680" y="32004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expected response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38160" y="3200400"/>
            <a:ext cx="3749040" cy="64008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32" name="Text 30"/>
          <p:cNvSpPr/>
          <p:nvPr/>
        </p:nvSpPr>
        <p:spPr>
          <a:xfrm>
            <a:off x="8138160" y="32004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may be filtered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11247120" cy="1645920"/>
          </a:xfrm>
          <a:prstGeom prst="roundRect">
            <a:avLst>
              <a:gd name="adj" fmla="val 4444"/>
            </a:avLst>
          </a:prstGeom>
          <a:solidFill>
            <a:srgbClr val="EBE5D8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297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4709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accessible TCP service (SSH) was scanned, the packet sequence was Kali → Ubuntu SYN, Ubuntu → Kali SYN/ACK. This confirms the target responded positively. For closed ports the expected RST/ACK response indicates the port is not accepting connections.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09  ·  ADVANCED TRAFFIC INVESTIGATION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45352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INTERN HUB  ·  WEEK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10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HOSTS &amp; PROTOCOLS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Communicating Hosts &amp; Protocol Mix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EBE5D8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417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Active Source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783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192.168.174.133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2286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 Lab Host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128016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EBE5D8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417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Destination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1783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192.168.174.2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20440" y="2286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/ Gateway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28016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EBE5D8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417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Dest.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1783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91.189.91.x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2286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NTP Time Servers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35440" y="128016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EBE5D8"/>
          </a:solidFill>
          <a:ln/>
        </p:spPr>
      </p:sp>
      <p:sp>
        <p:nvSpPr>
          <p:cNvPr id="22" name="Text 20"/>
          <p:cNvSpPr/>
          <p:nvPr/>
        </p:nvSpPr>
        <p:spPr>
          <a:xfrm>
            <a:off x="9372600" y="1417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Protocols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72600" y="1783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· NTP · TCP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72600" y="2286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 53 / 123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1828800" cy="411480"/>
          </a:xfrm>
          <a:prstGeom prst="rect">
            <a:avLst/>
          </a:prstGeom>
          <a:solidFill>
            <a:srgbClr val="0A090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377440" y="3108960"/>
            <a:ext cx="1371600" cy="411480"/>
          </a:xfrm>
          <a:prstGeom prst="rect">
            <a:avLst/>
          </a:prstGeom>
          <a:solidFill>
            <a:srgbClr val="0A0907"/>
          </a:solidFill>
          <a:ln/>
        </p:spPr>
      </p:sp>
      <p:sp>
        <p:nvSpPr>
          <p:cNvPr id="28" name="Text 26"/>
          <p:cNvSpPr/>
          <p:nvPr/>
        </p:nvSpPr>
        <p:spPr>
          <a:xfrm>
            <a:off x="2377440" y="3108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40480" y="3108960"/>
            <a:ext cx="2743200" cy="411480"/>
          </a:xfrm>
          <a:prstGeom prst="rect">
            <a:avLst/>
          </a:prstGeom>
          <a:solidFill>
            <a:srgbClr val="0A0907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0" y="3108960"/>
            <a:ext cx="5029200" cy="411480"/>
          </a:xfrm>
          <a:prstGeom prst="rect">
            <a:avLst/>
          </a:prstGeom>
          <a:solidFill>
            <a:srgbClr val="0A0907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3108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566160"/>
            <a:ext cx="1828800" cy="438912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5661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377440" y="3566160"/>
            <a:ext cx="1371600" cy="438912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36" name="Text 34"/>
          <p:cNvSpPr/>
          <p:nvPr/>
        </p:nvSpPr>
        <p:spPr>
          <a:xfrm>
            <a:off x="2377440" y="35661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840480" y="3566160"/>
            <a:ext cx="2743200" cy="438912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38" name="Text 36"/>
          <p:cNvSpPr/>
          <p:nvPr/>
        </p:nvSpPr>
        <p:spPr>
          <a:xfrm>
            <a:off x="3840480" y="35661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resolution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675120" y="3566160"/>
            <a:ext cx="5029200" cy="438912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356616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google.com, example.com, ubuntu.com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4005072"/>
            <a:ext cx="1828800" cy="438912"/>
          </a:xfrm>
          <a:prstGeom prst="rect">
            <a:avLst/>
          </a:prstGeom>
          <a:solidFill>
            <a:srgbClr val="F4EFE6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0050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NTP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377440" y="4005072"/>
            <a:ext cx="1371600" cy="438912"/>
          </a:xfrm>
          <a:prstGeom prst="rect">
            <a:avLst/>
          </a:prstGeom>
          <a:solidFill>
            <a:srgbClr val="F4EFE6"/>
          </a:solidFill>
          <a:ln/>
        </p:spPr>
      </p:sp>
      <p:sp>
        <p:nvSpPr>
          <p:cNvPr id="44" name="Text 42"/>
          <p:cNvSpPr/>
          <p:nvPr/>
        </p:nvSpPr>
        <p:spPr>
          <a:xfrm>
            <a:off x="2377440" y="40050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840480" y="4005072"/>
            <a:ext cx="2743200" cy="438912"/>
          </a:xfrm>
          <a:prstGeom prst="rect">
            <a:avLst/>
          </a:prstGeom>
          <a:solidFill>
            <a:srgbClr val="F4EFE6"/>
          </a:solidFill>
          <a:ln/>
        </p:spPr>
      </p:sp>
      <p:sp>
        <p:nvSpPr>
          <p:cNvPr id="46" name="Text 44"/>
          <p:cNvSpPr/>
          <p:nvPr/>
        </p:nvSpPr>
        <p:spPr>
          <a:xfrm>
            <a:off x="3840480" y="40050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sync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675120" y="4005072"/>
            <a:ext cx="5029200" cy="438912"/>
          </a:xfrm>
          <a:prstGeom prst="rect">
            <a:avLst/>
          </a:prstGeom>
          <a:solidFill>
            <a:srgbClr val="F4EFE6"/>
          </a:solidFill>
          <a:ln/>
        </p:spPr>
      </p:sp>
      <p:sp>
        <p:nvSpPr>
          <p:cNvPr id="48" name="Text 46"/>
          <p:cNvSpPr/>
          <p:nvPr/>
        </p:nvSpPr>
        <p:spPr>
          <a:xfrm>
            <a:off x="6675120" y="400507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servers (91.189.91.x)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57200" y="4443984"/>
            <a:ext cx="1828800" cy="438912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444398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377440" y="4443984"/>
            <a:ext cx="1371600" cy="438912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52" name="Text 50"/>
          <p:cNvSpPr/>
          <p:nvPr/>
        </p:nvSpPr>
        <p:spPr>
          <a:xfrm>
            <a:off x="2377440" y="444398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840480" y="4443984"/>
            <a:ext cx="2743200" cy="438912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54" name="Text 52"/>
          <p:cNvSpPr/>
          <p:nvPr/>
        </p:nvSpPr>
        <p:spPr>
          <a:xfrm>
            <a:off x="3840480" y="444398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675120" y="4443984"/>
            <a:ext cx="5029200" cy="438912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56" name="Text 54"/>
          <p:cNvSpPr/>
          <p:nvPr/>
        </p:nvSpPr>
        <p:spPr>
          <a:xfrm>
            <a:off x="6675120" y="444398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 handshakes, data, close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57200" y="4882896"/>
            <a:ext cx="1828800" cy="438912"/>
          </a:xfrm>
          <a:prstGeom prst="rect">
            <a:avLst/>
          </a:prstGeom>
          <a:solidFill>
            <a:srgbClr val="F4EFE6"/>
          </a:solidFill>
          <a:ln/>
        </p:spPr>
      </p:sp>
      <p:sp>
        <p:nvSpPr>
          <p:cNvPr id="58" name="Text 56"/>
          <p:cNvSpPr/>
          <p:nvPr/>
        </p:nvSpPr>
        <p:spPr>
          <a:xfrm>
            <a:off x="457200" y="488289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2377440" y="4882896"/>
            <a:ext cx="1371600" cy="438912"/>
          </a:xfrm>
          <a:prstGeom prst="rect">
            <a:avLst/>
          </a:prstGeom>
          <a:solidFill>
            <a:srgbClr val="F4EFE6"/>
          </a:solidFill>
          <a:ln/>
        </p:spPr>
      </p:sp>
      <p:sp>
        <p:nvSpPr>
          <p:cNvPr id="60" name="Text 58"/>
          <p:cNvSpPr/>
          <p:nvPr/>
        </p:nvSpPr>
        <p:spPr>
          <a:xfrm>
            <a:off x="2377440" y="48828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840480" y="4882896"/>
            <a:ext cx="2743200" cy="438912"/>
          </a:xfrm>
          <a:prstGeom prst="rect">
            <a:avLst/>
          </a:prstGeom>
          <a:solidFill>
            <a:srgbClr val="F4EFE6"/>
          </a:solidFill>
          <a:ln/>
        </p:spPr>
      </p:sp>
      <p:sp>
        <p:nvSpPr>
          <p:cNvPr id="62" name="Text 60"/>
          <p:cNvSpPr/>
          <p:nvPr/>
        </p:nvSpPr>
        <p:spPr>
          <a:xfrm>
            <a:off x="3840480" y="488289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resolution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675120" y="4882896"/>
            <a:ext cx="5029200" cy="438912"/>
          </a:xfrm>
          <a:prstGeom prst="rect">
            <a:avLst/>
          </a:prstGeom>
          <a:solidFill>
            <a:srgbClr val="F4EFE6"/>
          </a:solidFill>
          <a:ln/>
        </p:spPr>
      </p:sp>
      <p:sp>
        <p:nvSpPr>
          <p:cNvPr id="64" name="Text 62"/>
          <p:cNvSpPr/>
          <p:nvPr/>
        </p:nvSpPr>
        <p:spPr>
          <a:xfrm>
            <a:off x="6675120" y="488289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MAC discovery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57200" y="5321808"/>
            <a:ext cx="1828800" cy="438912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66" name="Text 64"/>
          <p:cNvSpPr/>
          <p:nvPr/>
        </p:nvSpPr>
        <p:spPr>
          <a:xfrm>
            <a:off x="457200" y="532180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LLMNR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2377440" y="5321808"/>
            <a:ext cx="1371600" cy="438912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68" name="Text 66"/>
          <p:cNvSpPr/>
          <p:nvPr/>
        </p:nvSpPr>
        <p:spPr>
          <a:xfrm>
            <a:off x="2377440" y="53218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840480" y="5321808"/>
            <a:ext cx="2743200" cy="438912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70" name="Text 68"/>
          <p:cNvSpPr/>
          <p:nvPr/>
        </p:nvSpPr>
        <p:spPr>
          <a:xfrm>
            <a:off x="3840480" y="532180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Hostname broadcast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675120" y="5321808"/>
            <a:ext cx="5029200" cy="438912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72" name="Text 70"/>
          <p:cNvSpPr/>
          <p:nvPr/>
        </p:nvSpPr>
        <p:spPr>
          <a:xfrm>
            <a:off x="6675120" y="532180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Hostname "YASH" discovery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10  ·  VULNERABILITY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45352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INTERN HUB  ·  WEEK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11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FINDINGS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Findings Overview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EBE5D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258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3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123444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EBE5D8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3258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83280" y="18745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23444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EBE5D8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3258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18745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35440" y="123444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EBE5D8"/>
          </a:solidFill>
          <a:ln/>
        </p:spPr>
      </p:sp>
      <p:sp>
        <p:nvSpPr>
          <p:cNvPr id="19" name="Text 17"/>
          <p:cNvSpPr/>
          <p:nvPr/>
        </p:nvSpPr>
        <p:spPr>
          <a:xfrm>
            <a:off x="9235440" y="13258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235440" y="18745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2514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Server Exposed (Port 53 UDP)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0" y="2514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8408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0632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NTP Publicly Accessible (Port 123 UDP)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4672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" y="3611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mDNS / LLMNR Enabled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4672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78408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160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4160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High-Numbered TCP Ports Open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4672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784080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709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97280" y="4709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ARP Protection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046720" y="4709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784080" y="4709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5257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97280" y="5257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Queries Lack DNSSEC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046720" y="5257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784080" y="5257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11  ·  SECURITY HARDENING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45352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INTERN HUB  ·  WEEK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12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IMPLEMENTED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 Actions Implemented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3749040" cy="4572000"/>
          </a:xfrm>
          <a:prstGeom prst="roundRect">
            <a:avLst>
              <a:gd name="adj" fmla="val 1951"/>
            </a:avLst>
          </a:prstGeom>
          <a:solidFill>
            <a:srgbClr val="EBE5D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Access Restriction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53/udp OPEN to all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53/udp FILTERED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ufw allow from 192.168.174.0/24 to any port 53/udp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amplification from external sources eliminated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1280160"/>
            <a:ext cx="3749040" cy="4572000"/>
          </a:xfrm>
          <a:prstGeom prst="roundRect">
            <a:avLst>
              <a:gd name="adj" fmla="val 1951"/>
            </a:avLst>
          </a:prstGeom>
          <a:solidFill>
            <a:srgbClr val="EBE5D8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2628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mDNS / LLMNR Disable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26280" y="2331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26280" y="2606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LLMNR "YASH" broadcasts active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26280" y="3108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2628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5353 no longer listening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26280" y="3931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disable avahi-daemon &amp;&amp; systemctl stop avahi-daemon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26280" y="4846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Hostname discovery via mDNS eliminated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0" y="1280160"/>
            <a:ext cx="3749040" cy="4572000"/>
          </a:xfrm>
          <a:prstGeom prst="roundRect">
            <a:avLst>
              <a:gd name="adj" fmla="val 1951"/>
            </a:avLst>
          </a:prstGeom>
          <a:solidFill>
            <a:srgbClr val="EBE5D8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41248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NTP Service Restriction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12480" y="2331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2606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NTP responding to all queries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12480" y="3108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248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123 filtered to lab only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12480" y="3931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ufw allow from 192.168.174.0/24 + ntp.conf restrict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0" y="4846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NTP amplification attack vector closed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12  ·  BEFORE / AFTER COMPARISON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45352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INTERN HUB  ·  WEEK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13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SURFACE REDUCTION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Surface Reduction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4114800" cy="502920"/>
          </a:xfrm>
          <a:prstGeom prst="rect">
            <a:avLst/>
          </a:prstGeom>
          <a:solidFill>
            <a:srgbClr val="0A090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25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3657600" cy="502920"/>
          </a:xfrm>
          <a:prstGeom prst="rect">
            <a:avLst/>
          </a:prstGeom>
          <a:solidFill>
            <a:srgbClr val="0A0907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325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12480" y="1325880"/>
            <a:ext cx="3474720" cy="502920"/>
          </a:xfrm>
          <a:prstGeom prst="rect">
            <a:avLst/>
          </a:prstGeom>
          <a:solidFill>
            <a:srgbClr val="0A0907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1325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1874520"/>
            <a:ext cx="4114800" cy="64008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874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Services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874520"/>
            <a:ext cx="3657600" cy="64008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874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(unrestricted)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412480" y="1874520"/>
            <a:ext cx="3474720" cy="64008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1874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(restricted)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514600"/>
            <a:ext cx="4114800" cy="640080"/>
          </a:xfrm>
          <a:prstGeom prst="rect">
            <a:avLst/>
          </a:prstGeom>
          <a:solidFill>
            <a:srgbClr val="F4EFE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5146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Amplification Vectors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2514600"/>
            <a:ext cx="3657600" cy="640080"/>
          </a:xfrm>
          <a:prstGeom prst="rect">
            <a:avLst/>
          </a:prstGeom>
          <a:solidFill>
            <a:srgbClr val="F4EFE6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2514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(DNS + NTP)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412480" y="2514600"/>
            <a:ext cx="3474720" cy="640080"/>
          </a:xfrm>
          <a:prstGeom prst="rect">
            <a:avLst/>
          </a:prstGeom>
          <a:solidFill>
            <a:srgbClr val="F4EFE6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2514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154680"/>
            <a:ext cx="4114800" cy="64008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1546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Network-wide Services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3154680"/>
            <a:ext cx="3657600" cy="64008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3154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(DNS, NTP, mDNS, TCP)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412480" y="3154680"/>
            <a:ext cx="3474720" cy="64008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3154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(restricted TCP)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3794760"/>
            <a:ext cx="4114800" cy="640080"/>
          </a:xfrm>
          <a:prstGeom prst="rect">
            <a:avLst/>
          </a:prstGeom>
          <a:solidFill>
            <a:srgbClr val="F4EFE6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7947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Reconnaissance Vectors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663440" y="3794760"/>
            <a:ext cx="3657600" cy="640080"/>
          </a:xfrm>
          <a:prstGeom prst="rect">
            <a:avLst/>
          </a:prstGeom>
          <a:solidFill>
            <a:srgbClr val="F4EFE6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3794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(mDNS, DNS, ARP)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412480" y="3794760"/>
            <a:ext cx="3474720" cy="640080"/>
          </a:xfrm>
          <a:prstGeom prst="rect">
            <a:avLst/>
          </a:prstGeom>
          <a:solidFill>
            <a:srgbClr val="F4EFE6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3794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(ARP)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57200" y="4434840"/>
            <a:ext cx="4114800" cy="64008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4348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DDoS Attack Potential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663440" y="4434840"/>
            <a:ext cx="3657600" cy="64008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4434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412480" y="4434840"/>
            <a:ext cx="3474720" cy="640080"/>
          </a:xfrm>
          <a:prstGeom prst="rect">
            <a:avLst/>
          </a:prstGeom>
          <a:solidFill>
            <a:srgbClr val="EBE5D8"/>
          </a:solidFill>
          <a:ln/>
        </p:spPr>
      </p:sp>
      <p:sp>
        <p:nvSpPr>
          <p:cNvPr id="44" name="Text 42"/>
          <p:cNvSpPr/>
          <p:nvPr/>
        </p:nvSpPr>
        <p:spPr>
          <a:xfrm>
            <a:off x="8412480" y="44348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network transitioned from MEDIUM RISK → LOW RISK status.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 13  ·  RECOMMENDATIONS &amp; 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45352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 INTERN HUB  ·  WEEK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6350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14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Recommendations &amp; Closing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B31C1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887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63040" y="11887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&amp; Restrict High Ports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1188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services on 48554, 50316, 43875; close unnecessary; enforce firewall rules.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47088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B3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84708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18470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Dynamic ARP Inspection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0" y="18470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DAI on switches; static ARP for critical hosts; monitor for spoofing.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05456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C46E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50545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250545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DNSSEC Validation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0" y="250545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resolvers to validate DNSSEC; consider DoH/DoT for encrypted queries.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63824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C46E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6382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63040" y="316382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Segmentation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316382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lab into VLANs; restrict inter-subnet traffic to limit lateral movement.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822192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C46E0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8221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63040" y="38221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Monitoring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0" y="382219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Zeek/Suricata + centralized logging (ELK/Splunk); alert on anomalies.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0A0907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800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4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5120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assessment identified 6 findings (0 Critical, 0 High). Three hardening actions eliminated major amplification vectors. The authorized lab network has transitioned from MEDIUM RISK to LOW RISK status.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Security Assessment Using Nmap and Wireshark</dc:title>
  <dc:subject>DG Intern Hub — Week 3 Advanced Cybersecurity Practical</dc:subject>
  <dc:creator>Yash Panchal — Cybersecurity Intern</dc:creator>
  <cp:lastModifiedBy>Yash Panchal — Cybersecurity Intern</cp:lastModifiedBy>
  <cp:revision>1</cp:revision>
  <dcterms:created xsi:type="dcterms:W3CDTF">2026-10-07T10:11:10Z</dcterms:created>
  <dcterms:modified xsi:type="dcterms:W3CDTF">2026-10-07T10:11:10Z</dcterms:modified>
</cp:coreProperties>
</file>